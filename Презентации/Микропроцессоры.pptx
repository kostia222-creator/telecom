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15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92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50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47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87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78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90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67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18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520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813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342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713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1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863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497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46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E41D210-416F-4C50-A2BE-ADB6ECFA44D7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A5E36C2-E42B-4011-ADE4-D6A3A5B1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65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0246F9-CEF1-30D7-C2DB-6A96719A1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Эволюция и классификация микропроцессоров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74463281-4BC0-4ABE-B4A8-0B0040DAB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Архитектурные особенности и принципы работы</a:t>
            </a:r>
          </a:p>
          <a:p>
            <a:r>
              <a:rPr lang="ru-RU" dirty="0"/>
              <a:t>Вычислительные системы, сети и телекоммуникации</a:t>
            </a:r>
          </a:p>
        </p:txBody>
      </p:sp>
    </p:spTree>
    <p:extLst>
      <p:ext uri="{BB962C8B-B14F-4D97-AF65-F5344CB8AC3E}">
        <p14:creationId xmlns:p14="http://schemas.microsoft.com/office/powerpoint/2010/main" val="312379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0E6D0-49D5-5A1F-13A9-506713CD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84" y="1295400"/>
            <a:ext cx="3103983" cy="1600200"/>
          </a:xfrm>
        </p:spPr>
        <p:txBody>
          <a:bodyPr anchor="ctr"/>
          <a:lstStyle/>
          <a:p>
            <a:pPr algn="ctr"/>
            <a:r>
              <a:rPr lang="ru-RU" b="1" dirty="0"/>
              <a:t>Микропроцессор (МП)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1B7C9D-C748-E823-3635-A45FBF47E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799184"/>
            <a:ext cx="2793158" cy="351453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Функционально законченное </a:t>
            </a:r>
            <a:r>
              <a:rPr lang="ru-RU" dirty="0" err="1"/>
              <a:t>программно</a:t>
            </a:r>
            <a:r>
              <a:rPr lang="ru-RU" dirty="0"/>
              <a:t> управляемое устройство обработки информации, выполненное в виде одной или нескольких БИС или СБИС.</a:t>
            </a:r>
          </a:p>
          <a:p>
            <a:r>
              <a:rPr lang="ru-RU" b="1" dirty="0"/>
              <a:t>Основные функции: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Вычисление адресов команд и операндов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Выборка и дешифрация команд из памяти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Выполнение арифметико-логических операций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Выработка управляющих сигналов для всех блоков ПК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7C1DC539-FF2A-6572-F037-C014B927A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516" y="2343912"/>
            <a:ext cx="4181856" cy="2779776"/>
          </a:xfrm>
        </p:spPr>
      </p:pic>
    </p:spTree>
    <p:extLst>
      <p:ext uri="{BB962C8B-B14F-4D97-AF65-F5344CB8AC3E}">
        <p14:creationId xmlns:p14="http://schemas.microsoft.com/office/powerpoint/2010/main" val="353709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48BE4-F555-5FD6-FBE3-BCC4FB86E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800" b="1" dirty="0"/>
              <a:t>Ключевые параметры микропроцессоров</a:t>
            </a:r>
            <a:br>
              <a:rPr lang="ru-RU" sz="2800" b="1" dirty="0"/>
            </a:br>
            <a:endParaRPr lang="ru-RU" sz="2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15D5F5-7AE6-3F64-0961-C173F048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016" y="2600647"/>
            <a:ext cx="2129422" cy="576262"/>
          </a:xfrm>
        </p:spPr>
        <p:txBody>
          <a:bodyPr/>
          <a:lstStyle/>
          <a:p>
            <a:r>
              <a:rPr lang="ru-RU" dirty="0"/>
              <a:t>Параметр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28ED37-A09E-B264-048E-F5F69FBB3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6936" y="3193334"/>
            <a:ext cx="2954694" cy="284003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ru-RU" dirty="0"/>
              <a:t>Разрядность</a:t>
            </a:r>
          </a:p>
          <a:p>
            <a:pPr>
              <a:buFont typeface="+mj-lt"/>
              <a:buAutoNum type="arabicPeriod"/>
            </a:pPr>
            <a:r>
              <a:rPr lang="ru-RU" dirty="0"/>
              <a:t>Тактовая частота</a:t>
            </a:r>
          </a:p>
          <a:p>
            <a:pPr>
              <a:buFont typeface="+mj-lt"/>
              <a:buAutoNum type="arabicPeriod"/>
            </a:pPr>
            <a:r>
              <a:rPr lang="ru-RU" dirty="0"/>
              <a:t>Кэш-память</a:t>
            </a:r>
          </a:p>
          <a:p>
            <a:pPr>
              <a:buFont typeface="+mj-lt"/>
              <a:buAutoNum type="arabicPeriod"/>
            </a:pPr>
            <a:r>
              <a:rPr lang="ru-RU" dirty="0"/>
              <a:t>Конструктив</a:t>
            </a:r>
          </a:p>
          <a:p>
            <a:pPr>
              <a:buFont typeface="+mj-lt"/>
              <a:buAutoNum type="arabicPeriod"/>
            </a:pPr>
            <a:r>
              <a:rPr lang="ru-RU" dirty="0"/>
              <a:t>Энергопотребление</a:t>
            </a:r>
          </a:p>
          <a:p>
            <a:pPr>
              <a:buFont typeface="+mj-lt"/>
              <a:buAutoNum type="arabicPeriod"/>
            </a:pPr>
            <a:r>
              <a:rPr lang="ru-RU" dirty="0"/>
              <a:t>Состав инструкций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8EA914-5215-7E71-BC64-058928966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Что определяет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664500-A3F7-D631-9C84-ABF94E43D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7284" y="3179761"/>
            <a:ext cx="8761412" cy="284003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dirty="0"/>
              <a:t>Количество одновременно обрабатываемых битов (8 → 16 → 32 → 64).</a:t>
            </a:r>
          </a:p>
          <a:p>
            <a:pPr>
              <a:buFont typeface="+mj-lt"/>
              <a:buAutoNum type="arabicPeriod"/>
            </a:pPr>
            <a:r>
              <a:rPr lang="ru-RU" dirty="0"/>
              <a:t>Базовое быстродействие (МГц → ГГц).</a:t>
            </a:r>
          </a:p>
          <a:p>
            <a:pPr>
              <a:buFont typeface="+mj-lt"/>
              <a:buAutoNum type="arabicPeriod"/>
            </a:pPr>
            <a:r>
              <a:rPr lang="ru-RU" dirty="0"/>
              <a:t>Ускорение обмена с памятью (L1, L2, L3).</a:t>
            </a:r>
          </a:p>
          <a:p>
            <a:pPr>
              <a:buFont typeface="+mj-lt"/>
              <a:buAutoNum type="arabicPeriod"/>
            </a:pPr>
            <a:r>
              <a:rPr lang="ru-RU" dirty="0"/>
              <a:t>Тип разъема для установки на плату (Socket, LGA).</a:t>
            </a:r>
          </a:p>
          <a:p>
            <a:pPr>
              <a:buFont typeface="+mj-lt"/>
              <a:buAutoNum type="arabicPeriod"/>
            </a:pPr>
            <a:r>
              <a:rPr lang="ru-RU" dirty="0"/>
              <a:t>Тепловыделение и время работы (Вт).</a:t>
            </a:r>
          </a:p>
          <a:p>
            <a:pPr>
              <a:buFont typeface="+mj-lt"/>
              <a:buAutoNum type="arabicPeriod"/>
            </a:pPr>
            <a:r>
              <a:rPr lang="ru-RU" dirty="0"/>
              <a:t>Система команд (CISC, RISC, VLIW).</a:t>
            </a:r>
          </a:p>
        </p:txBody>
      </p:sp>
    </p:spTree>
    <p:extLst>
      <p:ext uri="{BB962C8B-B14F-4D97-AF65-F5344CB8AC3E}">
        <p14:creationId xmlns:p14="http://schemas.microsoft.com/office/powerpoint/2010/main" val="52046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E5000-B212-6C0E-C041-E649980B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</a:t>
            </a:r>
            <a:r>
              <a:rPr lang="en-US" b="1" dirty="0"/>
              <a:t>CISC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EB0EEE-90E6-FA01-9EC5-2C43A118F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181877"/>
            <a:ext cx="3757545" cy="483947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CISC (Complex Instruction Set Computer)</a:t>
            </a:r>
            <a:endParaRPr lang="ru-RU" b="1" dirty="0"/>
          </a:p>
          <a:p>
            <a:r>
              <a:rPr lang="ru-RU" b="1" dirty="0"/>
              <a:t>Особенности: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Одна команда выполняется за несколько тактов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Команды имеют разную длину (от 1 до 15 байт)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Сложная аппаратная реализация</a:t>
            </a:r>
          </a:p>
          <a:p>
            <a:r>
              <a:rPr lang="ru-RU" b="1" dirty="0"/>
              <a:t>Примеры:</a:t>
            </a:r>
            <a:br>
              <a:rPr lang="ru-RU" dirty="0"/>
            </a:br>
            <a:r>
              <a:rPr lang="en-US" dirty="0"/>
              <a:t>Intel 80286</a:t>
            </a:r>
            <a:r>
              <a:rPr lang="ru-RU" dirty="0"/>
              <a:t>/</a:t>
            </a:r>
            <a:r>
              <a:rPr lang="en-US" dirty="0"/>
              <a:t>80386</a:t>
            </a:r>
            <a:r>
              <a:rPr lang="ru-RU" dirty="0"/>
              <a:t>/</a:t>
            </a:r>
            <a:r>
              <a:rPr lang="en-US" dirty="0"/>
              <a:t>80486</a:t>
            </a:r>
            <a:r>
              <a:rPr lang="ru-RU" dirty="0"/>
              <a:t>/</a:t>
            </a:r>
            <a:r>
              <a:rPr lang="en-US" dirty="0"/>
              <a:t> Pentium</a:t>
            </a:r>
            <a:r>
              <a:rPr lang="ru-RU" dirty="0"/>
              <a:t>,</a:t>
            </a:r>
            <a:r>
              <a:rPr lang="en-US" dirty="0"/>
              <a:t> Core i3/i5/i7/i9</a:t>
            </a:r>
            <a:br>
              <a:rPr lang="en-US" dirty="0"/>
            </a:br>
            <a:r>
              <a:rPr lang="en-US" dirty="0"/>
              <a:t>AMD Athlon, Ryzen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065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CE937-BC13-438E-BBF5-7EB5B6512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dirty="0"/>
              <a:t>Логотипы поколений </a:t>
            </a:r>
            <a:r>
              <a:rPr lang="en-US" sz="3600" dirty="0"/>
              <a:t>Intel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D5A6CE-C792-1300-2F88-2616F653C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5D566-759E-459D-8D1B-6B40EB8C70A5}"/>
              </a:ext>
            </a:extLst>
          </p:cNvPr>
          <p:cNvSpPr txBox="1"/>
          <p:nvPr/>
        </p:nvSpPr>
        <p:spPr>
          <a:xfrm>
            <a:off x="3048000" y="30980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Логотипы поколений Intel: от 286 до Core i7 (временная линия).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D12F02-09C8-4A5F-EDAC-F76ECF0E1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45" y="462795"/>
            <a:ext cx="7184571" cy="38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1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44A8C-DC7D-7B32-B982-F75B194C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</a:t>
            </a:r>
            <a:r>
              <a:rPr lang="en-US" b="1" dirty="0"/>
              <a:t>RISC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EE3C87-15F5-5F19-D324-034A1A289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9811626" cy="29259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RISC (Reduced Instruction Set Computer)</a:t>
            </a:r>
            <a:endParaRPr lang="ru-RU" b="1" dirty="0"/>
          </a:p>
          <a:p>
            <a:r>
              <a:rPr lang="ru-RU" b="1" dirty="0"/>
              <a:t>Особенности: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Все команды имеют одинаковую длину (32 бита)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Одна команда выполняется за </a:t>
            </a:r>
            <a:r>
              <a:rPr lang="ru-RU" b="1" dirty="0"/>
              <a:t>один</a:t>
            </a:r>
            <a:r>
              <a:rPr lang="ru-RU" dirty="0"/>
              <a:t> такт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Простая аппаратура → высокое быстродействие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Низкое энергопотребление</a:t>
            </a:r>
          </a:p>
          <a:p>
            <a:r>
              <a:rPr lang="ru-RU" b="1" dirty="0"/>
              <a:t>Недостаток:</a:t>
            </a:r>
            <a:r>
              <a:rPr lang="ru-RU" dirty="0"/>
              <a:t> программная несовместимость с CISC (требуется эмуляция)</a:t>
            </a:r>
          </a:p>
          <a:p>
            <a:r>
              <a:rPr lang="ru-RU" b="1" dirty="0"/>
              <a:t>Примеры:</a:t>
            </a:r>
            <a:r>
              <a:rPr lang="ru-RU" dirty="0"/>
              <a:t> </a:t>
            </a:r>
            <a:r>
              <a:rPr lang="ru-RU" dirty="0" err="1"/>
              <a:t>PowerPC</a:t>
            </a:r>
            <a:r>
              <a:rPr lang="ru-RU" dirty="0"/>
              <a:t> (Apple до 2006 года), ARM (смартфоны, планшеты), SPARC, Alpha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581525-494F-3715-F62E-1BAA3A641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059" y="3429000"/>
            <a:ext cx="1903110" cy="190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6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6FE42-4DF9-89E6-7274-5A6FF177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</a:t>
            </a:r>
            <a:r>
              <a:rPr lang="en-US" b="1" dirty="0"/>
              <a:t>VLIW / EPIC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BA8C30-E991-0890-FC07-98247ABE76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Принцип:</a:t>
            </a: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Компилятор формирует «длинные слова» (несколько операций в одной команде)</a:t>
            </a:r>
          </a:p>
          <a:p>
            <a:pPr>
              <a:buFont typeface="+mj-lt"/>
              <a:buAutoNum type="arabicPeriod"/>
            </a:pPr>
            <a:r>
              <a:rPr lang="ru-RU" dirty="0"/>
              <a:t>Аппаратура не занимается динамическим распараллеливанием</a:t>
            </a:r>
          </a:p>
          <a:p>
            <a:pPr>
              <a:buFont typeface="+mj-lt"/>
              <a:buAutoNum type="arabicPeriod"/>
            </a:pPr>
            <a:r>
              <a:rPr lang="ru-RU" dirty="0"/>
              <a:t>Упрощение схем → «холодные» процессоры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2C8FDF-1F39-A0C9-941A-278084D862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Преимущества:</a:t>
            </a: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Высокая производительность при низком энергопотреблении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Проще масштабирование числа ядер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55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D43DA-76AC-98C3-AE53-72213239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Эволюция поколений </a:t>
            </a:r>
            <a:r>
              <a:rPr lang="en-US" b="1" dirty="0"/>
              <a:t>Intel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8F34EA-13BE-0E3F-8705-0FDA6351C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1955250" cy="576262"/>
          </a:xfrm>
        </p:spPr>
        <p:txBody>
          <a:bodyPr/>
          <a:lstStyle/>
          <a:p>
            <a:r>
              <a:rPr lang="ru-RU" dirty="0"/>
              <a:t>Поколение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D98DCB-BBFB-D89F-7CE0-AB528C00CB2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2"/>
            <a:ext cx="1955251" cy="3121511"/>
          </a:xfrm>
        </p:spPr>
        <p:txBody>
          <a:bodyPr>
            <a:normAutofit/>
          </a:bodyPr>
          <a:lstStyle/>
          <a:p>
            <a:r>
              <a:rPr lang="ru-RU" dirty="0"/>
              <a:t>4004</a:t>
            </a:r>
          </a:p>
          <a:p>
            <a:r>
              <a:rPr lang="ru-RU" dirty="0"/>
              <a:t>80286</a:t>
            </a:r>
          </a:p>
          <a:p>
            <a:r>
              <a:rPr lang="ru-RU" dirty="0"/>
              <a:t>80386</a:t>
            </a:r>
          </a:p>
          <a:p>
            <a:r>
              <a:rPr lang="en-US" dirty="0"/>
              <a:t>80486DX</a:t>
            </a:r>
            <a:endParaRPr lang="ru-RU" dirty="0"/>
          </a:p>
          <a:p>
            <a:r>
              <a:rPr lang="en-US" dirty="0"/>
              <a:t>Pentium</a:t>
            </a:r>
            <a:endParaRPr lang="ru-RU" dirty="0"/>
          </a:p>
          <a:p>
            <a:r>
              <a:rPr lang="en-US" dirty="0"/>
              <a:t>Pentium 4</a:t>
            </a:r>
            <a:endParaRPr lang="ru-RU" dirty="0"/>
          </a:p>
          <a:p>
            <a:r>
              <a:rPr lang="en-US" dirty="0"/>
              <a:t>Pentium D</a:t>
            </a:r>
            <a:endParaRPr lang="ru-RU" dirty="0"/>
          </a:p>
          <a:p>
            <a:r>
              <a:rPr lang="en-US" dirty="0"/>
              <a:t>Core 2 Duo</a:t>
            </a:r>
            <a:endParaRPr lang="ru-RU" dirty="0"/>
          </a:p>
          <a:p>
            <a:r>
              <a:rPr lang="en-US" dirty="0"/>
              <a:t>Core i7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718CCC-929A-FA9A-7432-E3958CFCB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26094" y="2603500"/>
            <a:ext cx="1583279" cy="576262"/>
          </a:xfrm>
        </p:spPr>
        <p:txBody>
          <a:bodyPr/>
          <a:lstStyle/>
          <a:p>
            <a:r>
              <a:rPr lang="ru-RU" dirty="0"/>
              <a:t>Год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AD643D-8A28-AEA6-2B73-18D1A379A3C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326094" y="3179762"/>
            <a:ext cx="1583279" cy="3121511"/>
          </a:xfrm>
        </p:spPr>
        <p:txBody>
          <a:bodyPr/>
          <a:lstStyle/>
          <a:p>
            <a:r>
              <a:rPr lang="ru-RU" dirty="0"/>
              <a:t>1971</a:t>
            </a:r>
          </a:p>
          <a:p>
            <a:r>
              <a:rPr lang="ru-RU" dirty="0"/>
              <a:t>1982</a:t>
            </a:r>
          </a:p>
          <a:p>
            <a:r>
              <a:rPr lang="ru-RU" dirty="0"/>
              <a:t>1985</a:t>
            </a:r>
          </a:p>
          <a:p>
            <a:r>
              <a:rPr lang="ru-RU" dirty="0"/>
              <a:t>1989</a:t>
            </a:r>
          </a:p>
          <a:p>
            <a:r>
              <a:rPr lang="ru-RU" dirty="0"/>
              <a:t>1993</a:t>
            </a:r>
          </a:p>
          <a:p>
            <a:r>
              <a:rPr lang="ru-RU" dirty="0"/>
              <a:t>2000</a:t>
            </a:r>
          </a:p>
          <a:p>
            <a:r>
              <a:rPr lang="ru-RU" dirty="0"/>
              <a:t>2005</a:t>
            </a:r>
          </a:p>
          <a:p>
            <a:r>
              <a:rPr lang="ru-RU" dirty="0"/>
              <a:t>2006</a:t>
            </a:r>
          </a:p>
          <a:p>
            <a:r>
              <a:rPr lang="ru-RU" dirty="0"/>
              <a:t>2008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D0A90C2-6269-143F-3165-0E29525715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25263" y="2603501"/>
            <a:ext cx="5908602" cy="576262"/>
          </a:xfrm>
        </p:spPr>
        <p:txBody>
          <a:bodyPr/>
          <a:lstStyle/>
          <a:p>
            <a:r>
              <a:rPr lang="ru-RU" dirty="0"/>
              <a:t>Ключевая инновация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5C87F4-4C49-F18D-EC8C-73083BCD8CF2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125263" y="3179762"/>
            <a:ext cx="5908602" cy="3121511"/>
          </a:xfrm>
        </p:spPr>
        <p:txBody>
          <a:bodyPr/>
          <a:lstStyle/>
          <a:p>
            <a:r>
              <a:rPr lang="ru-RU" dirty="0"/>
              <a:t>Первый МП в мире (4 бита)</a:t>
            </a:r>
          </a:p>
          <a:p>
            <a:r>
              <a:rPr lang="ru-RU" dirty="0"/>
              <a:t>Защищенный режим, многозадачность</a:t>
            </a:r>
          </a:p>
          <a:p>
            <a:r>
              <a:rPr lang="ru-RU" dirty="0"/>
              <a:t>32-битная архитектура</a:t>
            </a:r>
          </a:p>
          <a:p>
            <a:r>
              <a:rPr lang="ru-RU" dirty="0"/>
              <a:t>Кэш </a:t>
            </a:r>
            <a:r>
              <a:rPr lang="en-US" dirty="0"/>
              <a:t>L1 + </a:t>
            </a:r>
            <a:r>
              <a:rPr lang="ru-RU" dirty="0"/>
              <a:t>встроенный сопроцессор</a:t>
            </a:r>
          </a:p>
          <a:p>
            <a:r>
              <a:rPr lang="ru-RU" dirty="0" err="1"/>
              <a:t>Суперскалярность</a:t>
            </a:r>
            <a:r>
              <a:rPr lang="ru-RU" dirty="0"/>
              <a:t> (2 конвейера)</a:t>
            </a:r>
          </a:p>
          <a:p>
            <a:r>
              <a:rPr lang="en-US" dirty="0"/>
              <a:t>Hyper-Threading, </a:t>
            </a:r>
            <a:r>
              <a:rPr lang="ru-RU" dirty="0"/>
              <a:t>высокая частота</a:t>
            </a:r>
          </a:p>
          <a:p>
            <a:r>
              <a:rPr lang="ru-RU" b="1" dirty="0"/>
              <a:t>Первые двухъядерные</a:t>
            </a:r>
            <a:r>
              <a:rPr lang="ru-RU" dirty="0"/>
              <a:t> (</a:t>
            </a:r>
            <a:r>
              <a:rPr lang="en-US" dirty="0"/>
              <a:t>Smithfield)</a:t>
            </a:r>
            <a:endParaRPr lang="ru-RU" dirty="0"/>
          </a:p>
          <a:p>
            <a:r>
              <a:rPr lang="ru-RU" dirty="0"/>
              <a:t>Производительность на ватт</a:t>
            </a:r>
          </a:p>
          <a:p>
            <a:r>
              <a:rPr lang="ru-RU" dirty="0"/>
              <a:t>Интегрированный контроллер памяти, Turbo </a:t>
            </a:r>
            <a:r>
              <a:rPr lang="ru-RU" dirty="0" err="1"/>
              <a:t>Boost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50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C4FE6-E44D-AE47-5612-3AACDFC0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ядра процессора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6F2908-94EE-B5C8-3604-87F001580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        ┌─────────────────────────────────┐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ru-RU" dirty="0"/>
              <a:t>        │          ЯДРО ПРОЦЕССОРА                                      │</a:t>
            </a:r>
          </a:p>
          <a:p>
            <a:pPr marL="0" indent="0">
              <a:buNone/>
            </a:pPr>
            <a:r>
              <a:rPr lang="ru-RU" dirty="0"/>
              <a:t>        │  ┌─────────┐      ┌─────────────┐          │</a:t>
            </a:r>
          </a:p>
          <a:p>
            <a:pPr marL="0" indent="0">
              <a:buNone/>
            </a:pPr>
            <a:r>
              <a:rPr lang="ru-RU" dirty="0"/>
              <a:t>        │  │   УУ                │──│         АЛУ                 </a:t>
            </a:r>
            <a:r>
              <a:rPr lang="ru-RU"/>
              <a:t>│          </a:t>
            </a:r>
            <a:r>
              <a:rPr lang="ru-RU" dirty="0"/>
              <a:t>│</a:t>
            </a:r>
          </a:p>
          <a:p>
            <a:pPr marL="0" indent="0">
              <a:buNone/>
            </a:pPr>
            <a:r>
              <a:rPr lang="ru-RU" dirty="0"/>
              <a:t>        │  └────┬────┘      └──────┬──────┘          │</a:t>
            </a:r>
          </a:p>
          <a:p>
            <a:pPr marL="0" indent="0">
              <a:buNone/>
            </a:pPr>
            <a:r>
              <a:rPr lang="ru-RU" dirty="0"/>
              <a:t>        │               │                                     │                            │</a:t>
            </a:r>
          </a:p>
          <a:p>
            <a:pPr marL="0" indent="0">
              <a:buNone/>
            </a:pPr>
            <a:r>
              <a:rPr lang="ru-RU" dirty="0"/>
              <a:t>        │  ┌────────────────────────────┐      │</a:t>
            </a:r>
          </a:p>
          <a:p>
            <a:pPr marL="0" indent="0">
              <a:buNone/>
            </a:pPr>
            <a:r>
              <a:rPr lang="ru-RU" dirty="0"/>
              <a:t>        │  │     РЕГИСТРЫ (МПП)                                     │      │</a:t>
            </a:r>
          </a:p>
          <a:p>
            <a:pPr marL="0" indent="0">
              <a:buNone/>
            </a:pPr>
            <a:r>
              <a:rPr lang="ru-RU" dirty="0"/>
              <a:t>        │  └────────────────────────────┘      │</a:t>
            </a:r>
          </a:p>
          <a:p>
            <a:pPr marL="0" indent="0">
              <a:buNone/>
            </a:pPr>
            <a:r>
              <a:rPr lang="ru-RU" dirty="0"/>
              <a:t>        │  ┌──────────┐  ┌──────────────┐         │</a:t>
            </a:r>
          </a:p>
          <a:p>
            <a:pPr marL="0" indent="0">
              <a:buNone/>
            </a:pPr>
            <a:r>
              <a:rPr lang="ru-RU" dirty="0"/>
              <a:t>        │  │ Кэш </a:t>
            </a:r>
            <a:r>
              <a:rPr lang="en-US" dirty="0"/>
              <a:t>L1   </a:t>
            </a:r>
            <a:r>
              <a:rPr lang="ru-RU" dirty="0"/>
              <a:t>         </a:t>
            </a:r>
            <a:r>
              <a:rPr lang="en-US" dirty="0"/>
              <a:t>│  │  </a:t>
            </a:r>
            <a:r>
              <a:rPr lang="ru-RU" dirty="0"/>
              <a:t>Кэш </a:t>
            </a:r>
            <a:r>
              <a:rPr lang="en-US" dirty="0"/>
              <a:t>L2      </a:t>
            </a:r>
            <a:r>
              <a:rPr lang="ru-RU" dirty="0"/>
              <a:t>                </a:t>
            </a:r>
            <a:r>
              <a:rPr lang="en-US" dirty="0"/>
              <a:t>│  </a:t>
            </a:r>
            <a:r>
              <a:rPr lang="ru-RU" dirty="0"/>
              <a:t>       </a:t>
            </a:r>
            <a:r>
              <a:rPr lang="en-US" dirty="0"/>
              <a:t>│</a:t>
            </a:r>
          </a:p>
          <a:p>
            <a:pPr marL="0" indent="0">
              <a:buNone/>
            </a:pPr>
            <a:r>
              <a:rPr lang="en-US" dirty="0"/>
              <a:t>        │  │ (</a:t>
            </a:r>
            <a:r>
              <a:rPr lang="ru-RU" dirty="0"/>
              <a:t>данные)        │  │  (общий)                   │         │</a:t>
            </a:r>
          </a:p>
          <a:p>
            <a:pPr marL="0" indent="0">
              <a:buNone/>
            </a:pPr>
            <a:r>
              <a:rPr lang="ru-RU" dirty="0"/>
              <a:t>        │  └──────────┘  └──────────────┘         │</a:t>
            </a:r>
          </a:p>
          <a:p>
            <a:pPr marL="0" indent="0">
              <a:buNone/>
            </a:pPr>
            <a:r>
              <a:rPr lang="ru-RU" dirty="0"/>
              <a:t>        └────────┬───────────────────┬────┘</a:t>
            </a:r>
          </a:p>
          <a:p>
            <a:pPr marL="0" indent="0">
              <a:buNone/>
            </a:pPr>
            <a:r>
              <a:rPr lang="ru-RU" dirty="0"/>
              <a:t>                                │  Шинный интерфейс         │</a:t>
            </a:r>
          </a:p>
          <a:p>
            <a:pPr marL="0" indent="0">
              <a:buNone/>
            </a:pPr>
            <a:r>
              <a:rPr lang="ru-RU" dirty="0"/>
              <a:t>                                └─────────┬─────────┘</a:t>
            </a:r>
          </a:p>
          <a:p>
            <a:pPr marL="0" indent="0">
              <a:buNone/>
            </a:pPr>
            <a:r>
              <a:rPr lang="ru-RU" dirty="0"/>
              <a:t>                           </a:t>
            </a:r>
          </a:p>
          <a:p>
            <a:pPr marL="0" indent="0">
              <a:buNone/>
            </a:pPr>
            <a:r>
              <a:rPr lang="ru-RU" dirty="0"/>
              <a:t>                               Системная шина (</a:t>
            </a:r>
            <a:r>
              <a:rPr lang="en-US" dirty="0"/>
              <a:t>FSB/QPI)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B988FA-CA23-9B53-35C7-1EAD28B26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b="1" dirty="0"/>
              <a:t>УУ</a:t>
            </a:r>
            <a:r>
              <a:rPr lang="ru-RU" dirty="0"/>
              <a:t> — формирует адреса и управляющие сигналы</a:t>
            </a:r>
            <a:br>
              <a:rPr lang="ru-RU" dirty="0"/>
            </a:br>
            <a:r>
              <a:rPr lang="ru-RU" b="1" dirty="0"/>
              <a:t>АЛУ</a:t>
            </a:r>
            <a:r>
              <a:rPr lang="ru-RU" dirty="0"/>
              <a:t> — выполняет арифметические и логические операции</a:t>
            </a:r>
            <a:br>
              <a:rPr lang="ru-RU" dirty="0"/>
            </a:br>
            <a:r>
              <a:rPr lang="ru-RU" b="1" dirty="0"/>
              <a:t>Регистры</a:t>
            </a:r>
            <a:r>
              <a:rPr lang="ru-RU" dirty="0"/>
              <a:t> — сверхбыстрое временное хранение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3765030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AD025-0472-1AB5-7DB2-694C4B36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Микропроцессорная память (регистры)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2A8DB5-1619-E69A-6EAC-E5F8A1D99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0F93DF-591D-579C-96D2-2BC9149C7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955" y="392721"/>
            <a:ext cx="7304089" cy="363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8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F1E06-3992-7168-7B7C-BBCBECE1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Режимы работы и современные технологии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A72110-CD78-885E-D48C-D2FCA3E40C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Real Mode (</a:t>
            </a:r>
            <a:r>
              <a:rPr lang="ru-RU" b="1" dirty="0"/>
              <a:t>простой компьютер)</a:t>
            </a:r>
          </a:p>
          <a:p>
            <a:pPr marL="0" indent="0">
              <a:buNone/>
            </a:pPr>
            <a:r>
              <a:rPr lang="ru-RU" dirty="0"/>
              <a:t>Это базовый режим работы процессора после включения питания или сброса. В нём используется сегментная адресация памяти, и доступ к памяти ограничен. </a:t>
            </a:r>
          </a:p>
        </p:txBody>
      </p:sp>
      <p:pic>
        <p:nvPicPr>
          <p:cNvPr id="7" name="Объект 5">
            <a:extLst>
              <a:ext uri="{FF2B5EF4-FFF2-40B4-BE49-F238E27FC236}">
                <a16:creationId xmlns:a16="http://schemas.microsoft.com/office/drawing/2014/main" id="{5BBE3FD2-974F-3B31-8BBA-43E36147A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5633" y="4538735"/>
            <a:ext cx="2374300" cy="2374300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D4FFCBED-5C3A-244E-3B91-CDF9268AB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5541639" cy="3416300"/>
          </a:xfrm>
        </p:spPr>
        <p:txBody>
          <a:bodyPr/>
          <a:lstStyle/>
          <a:p>
            <a:pPr marL="0" indent="0">
              <a:buNone/>
            </a:pPr>
            <a:r>
              <a:rPr lang="ru-RU" b="1" dirty="0" err="1"/>
              <a:t>Protected</a:t>
            </a:r>
            <a:r>
              <a:rPr lang="ru-RU" b="1" dirty="0"/>
              <a:t> Mode (несколько окон программ)</a:t>
            </a:r>
          </a:p>
          <a:p>
            <a:pPr marL="0" indent="0">
              <a:buNone/>
            </a:pPr>
            <a:r>
              <a:rPr lang="ru-RU" dirty="0"/>
              <a:t>Это основной режим работы современных многозадачных операционных систем. Он обеспечивает виртуальное адресное пространство, защиту памяти и возможность одновременного выполнения нескольких задач (программ). 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8348E20-4A3D-EB92-9DEC-40FCD5508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358" y="4593771"/>
            <a:ext cx="3136595" cy="226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63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97</TotalTime>
  <Words>579</Words>
  <Application>Microsoft Office PowerPoint</Application>
  <PresentationFormat>Широкоэкранный</PresentationFormat>
  <Paragraphs>108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quote-cjk-patch</vt:lpstr>
      <vt:lpstr>Wingdings 3</vt:lpstr>
      <vt:lpstr>Совет директоров</vt:lpstr>
      <vt:lpstr>Эволюция и классификация микропроцессоров</vt:lpstr>
      <vt:lpstr>Микропроцессор (МП)</vt:lpstr>
      <vt:lpstr>Ключевые параметры микропроцессоров </vt:lpstr>
      <vt:lpstr>Архитектура CISC </vt:lpstr>
      <vt:lpstr>Логотипы поколений Intel</vt:lpstr>
      <vt:lpstr>Архитектура RISC</vt:lpstr>
      <vt:lpstr>Архитектура VLIW / EPIC</vt:lpstr>
      <vt:lpstr>Эволюция поколений Intel</vt:lpstr>
      <vt:lpstr>Структура ядра процессора</vt:lpstr>
      <vt:lpstr>Микропроцессорная память (регистры)</vt:lpstr>
      <vt:lpstr>Режимы работы и современные технологии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костя цыганов</dc:creator>
  <cp:lastModifiedBy>костя цыганов</cp:lastModifiedBy>
  <cp:revision>5</cp:revision>
  <dcterms:created xsi:type="dcterms:W3CDTF">2026-04-24T06:17:48Z</dcterms:created>
  <dcterms:modified xsi:type="dcterms:W3CDTF">2026-04-24T07:55:38Z</dcterms:modified>
</cp:coreProperties>
</file>