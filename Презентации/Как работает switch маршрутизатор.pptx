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31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1884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618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463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193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362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14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29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70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33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375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2387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727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5088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2056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942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399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7F1FFDF-A6AC-49D0-B440-3469D57F979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EA4CB4E-0E86-4650-939D-84751688E4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5934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CC30A1-C48B-C9EF-C83F-E09659E8C9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Switch (</a:t>
            </a:r>
            <a:r>
              <a:rPr lang="ru-RU" dirty="0"/>
              <a:t>КОММУТАТОР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C95059-CA6F-28CE-7344-88A2E5714B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endParaRPr lang="ru-RU" dirty="0"/>
          </a:p>
          <a:p>
            <a:pPr algn="ctr"/>
            <a:r>
              <a:rPr lang="ru-RU" dirty="0"/>
              <a:t>Что за зверь и с чем его едят?</a:t>
            </a:r>
          </a:p>
        </p:txBody>
      </p:sp>
    </p:spTree>
    <p:extLst>
      <p:ext uri="{BB962C8B-B14F-4D97-AF65-F5344CB8AC3E}">
        <p14:creationId xmlns:p14="http://schemas.microsoft.com/office/powerpoint/2010/main" val="4159555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1CA94-08AF-F2A8-8496-54435AFAC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2006600"/>
            <a:ext cx="9903578" cy="1498600"/>
          </a:xfrm>
        </p:spPr>
        <p:txBody>
          <a:bodyPr/>
          <a:lstStyle/>
          <a:p>
            <a:r>
              <a:rPr lang="ru-RU" dirty="0"/>
              <a:t>Коммутатор: сердце локальной сети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0CBFC9-8163-EF3E-5327-D94BA48A9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3886200"/>
            <a:ext cx="4705934" cy="210820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ru-RU" dirty="0"/>
              <a:t>Зачем нужен </a:t>
            </a:r>
            <a:r>
              <a:rPr lang="en-US" dirty="0"/>
              <a:t>switch</a:t>
            </a:r>
            <a:r>
              <a:rPr lang="ru-RU" dirty="0"/>
              <a:t>, если есть </a:t>
            </a:r>
            <a:r>
              <a:rPr lang="en-US" dirty="0"/>
              <a:t>WI-FI </a:t>
            </a:r>
            <a:r>
              <a:rPr lang="ru-RU" dirty="0"/>
              <a:t>и старые концентраторы (хабы)?</a:t>
            </a:r>
          </a:p>
          <a:p>
            <a:pPr marL="285750" indent="-285750">
              <a:buFontTx/>
              <a:buChar char="-"/>
            </a:pPr>
            <a:r>
              <a:rPr lang="ru-RU" dirty="0"/>
              <a:t>Основная задача: объединение в локальную сеть(</a:t>
            </a:r>
            <a:r>
              <a:rPr lang="en-US" dirty="0"/>
              <a:t>LAN)</a:t>
            </a:r>
            <a:r>
              <a:rPr lang="ru-RU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4BB706-0894-63E6-C423-407134504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715" y="3886200"/>
            <a:ext cx="376169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610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876A5E-09C5-403A-57CB-905658D45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197642"/>
            <a:ext cx="8534400" cy="796757"/>
          </a:xfrm>
        </p:spPr>
        <p:txBody>
          <a:bodyPr/>
          <a:lstStyle/>
          <a:p>
            <a:pPr algn="ctr"/>
            <a:r>
              <a:rPr lang="ru-RU" dirty="0"/>
              <a:t>Отличие </a:t>
            </a:r>
            <a:r>
              <a:rPr lang="en-US" dirty="0"/>
              <a:t>switch </a:t>
            </a:r>
            <a:r>
              <a:rPr lang="ru-RU" dirty="0"/>
              <a:t>от </a:t>
            </a:r>
            <a:r>
              <a:rPr lang="en-US" dirty="0"/>
              <a:t>hub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ADDB20-D869-D3A1-A178-A38315F63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4937655" cy="1334418"/>
          </a:xfrm>
        </p:spPr>
        <p:txBody>
          <a:bodyPr/>
          <a:lstStyle/>
          <a:p>
            <a:r>
              <a:rPr lang="ru-RU" sz="1600" dirty="0"/>
              <a:t>Проблема из прошлого.</a:t>
            </a:r>
          </a:p>
          <a:p>
            <a:r>
              <a:rPr lang="en-US" sz="1600" dirty="0"/>
              <a:t>Hub</a:t>
            </a:r>
            <a:r>
              <a:rPr lang="ru-RU" sz="1600" dirty="0"/>
              <a:t> – работа на репите. Получил сигнал на одни порт – раздал все остальным. Из подобных фокусов возникает коллизия, низкая безопасность и загрузка все сети.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BD9AB142-16BA-3F25-E1C1-3B3600A965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96" y="2093913"/>
            <a:ext cx="4895159" cy="3030537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4C442E18-BF03-72C0-9AC6-5F0DBD0F1A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15012" y="685799"/>
            <a:ext cx="4929188" cy="1334417"/>
          </a:xfrm>
        </p:spPr>
        <p:txBody>
          <a:bodyPr/>
          <a:lstStyle/>
          <a:p>
            <a:r>
              <a:rPr lang="ru-RU" sz="1600" dirty="0"/>
              <a:t>Решение.</a:t>
            </a:r>
          </a:p>
          <a:p>
            <a:r>
              <a:rPr lang="en-US" sz="1600" dirty="0"/>
              <a:t>Switch – </a:t>
            </a:r>
            <a:r>
              <a:rPr lang="ru-RU" sz="1600" dirty="0"/>
              <a:t>умный разветвитель. Отправляет данные только тому, кому они адресованы.</a:t>
            </a:r>
          </a:p>
          <a:p>
            <a:endParaRPr lang="ru-RU" sz="1600" dirty="0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7068E0BB-AABB-40E2-55EA-D93CB473313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93913"/>
            <a:ext cx="4479758" cy="3030537"/>
          </a:xfrm>
        </p:spPr>
      </p:pic>
    </p:spTree>
    <p:extLst>
      <p:ext uri="{BB962C8B-B14F-4D97-AF65-F5344CB8AC3E}">
        <p14:creationId xmlns:p14="http://schemas.microsoft.com/office/powerpoint/2010/main" val="1493119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D3E6C-9437-1619-F017-948E112D0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Mac - </a:t>
            </a:r>
            <a:r>
              <a:rPr lang="ru-RU" dirty="0"/>
              <a:t>адрес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6D23D4-CA52-1F93-B120-C711C8C1589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4" r="29814"/>
          <a:stretch>
            <a:fillRect/>
          </a:stretch>
        </p:blipFill>
        <p:spPr/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5664F0D1-982B-2878-83F4-56D6D99B5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Чтобы </a:t>
            </a:r>
            <a:r>
              <a:rPr lang="en-US" dirty="0"/>
              <a:t>switch</a:t>
            </a:r>
            <a:r>
              <a:rPr lang="ru-RU" dirty="0"/>
              <a:t> понимал, кому нести письмо, у каждого устройства есть уникальный физический идентификатор — MAC-адрес.</a:t>
            </a:r>
            <a:endParaRPr lang="en-US" dirty="0"/>
          </a:p>
          <a:p>
            <a:r>
              <a:rPr lang="ru-RU" dirty="0"/>
              <a:t>Выглядит как-то так: AA:BB:CC:11:22:33</a:t>
            </a:r>
          </a:p>
        </p:txBody>
      </p:sp>
    </p:spTree>
    <p:extLst>
      <p:ext uri="{BB962C8B-B14F-4D97-AF65-F5344CB8AC3E}">
        <p14:creationId xmlns:p14="http://schemas.microsoft.com/office/powerpoint/2010/main" val="154674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1236D2-C41E-5C10-DC5D-1A7D757A0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011" y="685800"/>
            <a:ext cx="4188577" cy="950495"/>
          </a:xfrm>
        </p:spPr>
        <p:txBody>
          <a:bodyPr/>
          <a:lstStyle/>
          <a:p>
            <a:pPr algn="ctr"/>
            <a:r>
              <a:rPr lang="ru-RU" dirty="0"/>
              <a:t>Таблица MAC-адресов (CAM-таблица)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3E782514-A4A3-FE35-87A0-D2EC8DAA3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388" y="1589334"/>
            <a:ext cx="5154402" cy="4089571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38CBAF2A-04A1-A3CB-C89C-DB33CC0E8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5012" y="2209798"/>
            <a:ext cx="3657600" cy="3784601"/>
          </a:xfrm>
        </p:spPr>
        <p:txBody>
          <a:bodyPr>
            <a:normAutofit/>
          </a:bodyPr>
          <a:lstStyle/>
          <a:p>
            <a:r>
              <a:rPr lang="ru-RU" sz="1800" dirty="0"/>
              <a:t>Как </a:t>
            </a:r>
            <a:r>
              <a:rPr lang="en-US" sz="1800" dirty="0"/>
              <a:t>switch </a:t>
            </a:r>
            <a:r>
              <a:rPr lang="ru-RU" sz="1800" dirty="0"/>
              <a:t>умнеет?</a:t>
            </a:r>
          </a:p>
          <a:p>
            <a:pPr marL="342900" indent="-342900">
              <a:buAutoNum type="arabicPeriod"/>
            </a:pPr>
            <a:r>
              <a:rPr lang="ru-RU" sz="1800" dirty="0"/>
              <a:t>Когда устройство отправляет данные, свитч смотрит, с какого порта пришел сигнал.</a:t>
            </a:r>
          </a:p>
          <a:p>
            <a:pPr marL="342900" indent="-342900">
              <a:buFont typeface="Wingdings 3" panose="05040102010807070707" pitchFamily="18" charset="2"/>
              <a:buAutoNum type="arabicPeriod"/>
            </a:pPr>
            <a:r>
              <a:rPr lang="ru-RU" sz="1800" dirty="0"/>
              <a:t>Он запоминает: «MAC-адрес X сидит в порту №3».</a:t>
            </a:r>
          </a:p>
          <a:p>
            <a:pPr marL="342900" indent="-342900">
              <a:buFont typeface="Wingdings 3" panose="05040102010807070707" pitchFamily="18" charset="2"/>
              <a:buAutoNum type="arabicPeriod"/>
            </a:pPr>
            <a:r>
              <a:rPr lang="ru-RU" sz="1800" dirty="0"/>
              <a:t>Заносит это в свою внутреннюю таблицу (CAM-таблицу).</a:t>
            </a:r>
          </a:p>
          <a:p>
            <a:pPr marL="342900" indent="-342900"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6111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C2E09B-C26E-EC9C-48C9-403F4DD24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057400"/>
          </a:xfrm>
        </p:spPr>
        <p:txBody>
          <a:bodyPr/>
          <a:lstStyle/>
          <a:p>
            <a:pPr algn="ctr"/>
            <a:r>
              <a:rPr lang="ru-RU" dirty="0"/>
              <a:t>Процесс коммутации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7D77EB-37D6-D107-5E2B-AD4FBBCC38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6212" y="2959768"/>
            <a:ext cx="8534400" cy="38100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Ситуация: ПК-1 хочет поговорить с ПК-3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A60DE6C-0B1C-BEF8-6E23-1F0D65BE0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3557337"/>
            <a:ext cx="8534400" cy="2879558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ru-RU" dirty="0"/>
              <a:t>ПК-1 шлет кадр с MAC-ом ПК-3.</a:t>
            </a:r>
          </a:p>
          <a:p>
            <a:pPr marL="457200" indent="-457200">
              <a:buAutoNum type="arabicPeriod"/>
            </a:pPr>
            <a:r>
              <a:rPr lang="ru-RU" dirty="0"/>
              <a:t>Свитч получает кадр на порту 1.</a:t>
            </a:r>
          </a:p>
          <a:p>
            <a:pPr marL="457200" indent="-457200">
              <a:buAutoNum type="arabicPeriod"/>
            </a:pPr>
            <a:r>
              <a:rPr lang="ru-RU" dirty="0"/>
              <a:t>Проверка таблицы: Смотрит, знает ли он, где сидит ПК-3. </a:t>
            </a:r>
            <a:r>
              <a:rPr lang="ru-RU" i="1" dirty="0"/>
              <a:t>Если знает:</a:t>
            </a:r>
            <a:r>
              <a:rPr lang="ru-RU" dirty="0"/>
              <a:t> Отправляет кадр строго в порт назначения.    </a:t>
            </a:r>
            <a:r>
              <a:rPr lang="ru-RU" i="1" dirty="0"/>
              <a:t>Если не знает:</a:t>
            </a:r>
            <a:r>
              <a:rPr lang="ru-RU" dirty="0"/>
              <a:t> Отправляет кадр во все порты, кроме того, откуда пришел (Широковещательный запрос — </a:t>
            </a:r>
            <a:r>
              <a:rPr lang="ru-RU" b="1" dirty="0" err="1"/>
              <a:t>Flooding</a:t>
            </a:r>
            <a:r>
              <a:rPr lang="ru-RU" dirty="0"/>
              <a:t>).</a:t>
            </a:r>
          </a:p>
          <a:p>
            <a:pPr marL="457200" indent="-457200">
              <a:buAutoNum type="arabicPeriod"/>
            </a:pPr>
            <a:r>
              <a:rPr lang="ru-RU" dirty="0"/>
              <a:t>ПК-3 получает данные и отвечает. Свитч запоминает, где сидит ПК-3 (обучение).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62C27E-FC81-4921-280B-15EE2CAA7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779" y="5183115"/>
            <a:ext cx="3101640" cy="167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21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DBB4F-2CD9-4850-BF0A-8A15DB1AD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4487332"/>
            <a:ext cx="9277935" cy="1507067"/>
          </a:xfrm>
        </p:spPr>
        <p:txBody>
          <a:bodyPr/>
          <a:lstStyle/>
          <a:p>
            <a:pPr algn="ctr"/>
            <a:r>
              <a:rPr lang="en-US" dirty="0" err="1"/>
              <a:t>Vlan</a:t>
            </a:r>
            <a:r>
              <a:rPr lang="en-US" dirty="0"/>
              <a:t> </a:t>
            </a:r>
            <a:r>
              <a:rPr lang="ru-RU" dirty="0"/>
              <a:t>(виртуальная локальная сеть)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CCE46C0-BE9B-0A8F-6911-CF6DCF5338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207" y="685800"/>
            <a:ext cx="5206412" cy="3614738"/>
          </a:xfrm>
        </p:spPr>
      </p:pic>
    </p:spTree>
    <p:extLst>
      <p:ext uri="{BB962C8B-B14F-4D97-AF65-F5344CB8AC3E}">
        <p14:creationId xmlns:p14="http://schemas.microsoft.com/office/powerpoint/2010/main" val="2921924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C60AB6-5C11-9C04-FBA3-B43AC81F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070811"/>
            <a:ext cx="8534400" cy="1697400"/>
          </a:xfrm>
        </p:spPr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A4C758-58F1-8E78-4406-D4773DCF3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1" y="2768211"/>
            <a:ext cx="8535990" cy="3225170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ru-RU" sz="2200" dirty="0"/>
              <a:t>Коммутатор — ключевой элемент проводной сети.</a:t>
            </a:r>
          </a:p>
          <a:p>
            <a:pPr marL="457200" indent="-457200">
              <a:buAutoNum type="arabicPeriod"/>
            </a:pPr>
            <a:r>
              <a:rPr lang="ru-RU" sz="2200" dirty="0"/>
              <a:t>Он строит интеллектуальную таблицу MAC-адресов.</a:t>
            </a:r>
          </a:p>
          <a:p>
            <a:pPr marL="457200" indent="-457200">
              <a:buAutoNum type="arabicPeriod"/>
            </a:pPr>
            <a:r>
              <a:rPr lang="ru-RU" sz="2200" dirty="0"/>
              <a:t>Обеспечивает полнодуплексную связь (передача и прием одновременно) без коллизий.</a:t>
            </a:r>
          </a:p>
          <a:p>
            <a:pPr marL="457200" indent="-457200">
              <a:buAutoNum type="arabicPeriod"/>
            </a:pPr>
            <a:r>
              <a:rPr lang="ru-RU" sz="2200" dirty="0"/>
              <a:t>Современные свитчи управляемые, позволяют настраивать VLAN, </a:t>
            </a:r>
            <a:r>
              <a:rPr lang="ru-RU" sz="2200" dirty="0" err="1"/>
              <a:t>QoS</a:t>
            </a:r>
            <a:r>
              <a:rPr lang="ru-RU" sz="2200" dirty="0"/>
              <a:t> (приоритеты трафика) и безопасность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024121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123</TotalTime>
  <Words>301</Words>
  <Application>Microsoft Office PowerPoint</Application>
  <PresentationFormat>Широкоэкранный</PresentationFormat>
  <Paragraphs>31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Сектор</vt:lpstr>
      <vt:lpstr>Switch (КОММУТАТОР)</vt:lpstr>
      <vt:lpstr>Коммутатор: сердце локальной сети</vt:lpstr>
      <vt:lpstr>Отличие switch от hub</vt:lpstr>
      <vt:lpstr>Mac - адрес</vt:lpstr>
      <vt:lpstr>Таблица MAC-адресов (CAM-таблица)</vt:lpstr>
      <vt:lpstr>Процесс коммутации</vt:lpstr>
      <vt:lpstr>Vlan (виртуальная локальная сеть)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костя цыганов</dc:creator>
  <cp:lastModifiedBy>костя цыганов</cp:lastModifiedBy>
  <cp:revision>1</cp:revision>
  <dcterms:created xsi:type="dcterms:W3CDTF">2026-03-01T08:54:36Z</dcterms:created>
  <dcterms:modified xsi:type="dcterms:W3CDTF">2026-03-01T10:57:54Z</dcterms:modified>
</cp:coreProperties>
</file>